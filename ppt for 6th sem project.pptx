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12" r:id="rId4"/>
  </p:sldMasterIdLst>
  <p:notesMasterIdLst>
    <p:notesMasterId r:id="rId13"/>
  </p:notesMasterIdLst>
  <p:handoutMasterIdLst>
    <p:handoutMasterId r:id="rId14"/>
  </p:handoutMasterIdLst>
  <p:sldIdLst>
    <p:sldId id="262" r:id="rId5"/>
    <p:sldId id="265" r:id="rId6"/>
    <p:sldId id="259" r:id="rId7"/>
    <p:sldId id="261" r:id="rId8"/>
    <p:sldId id="267" r:id="rId9"/>
    <p:sldId id="268" r:id="rId10"/>
    <p:sldId id="269"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87"/>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C40FD4-49E5-45F4-9F5F-D127674F3B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97B86CE-7533-4591-A533-3B285CBFBD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42818B-C764-43FB-9100-6BE58FDE1954}" type="datetimeFigureOut">
              <a:rPr lang="en-US" smtClean="0"/>
              <a:t>4/5/2026</a:t>
            </a:fld>
            <a:endParaRPr lang="en-US" dirty="0"/>
          </a:p>
        </p:txBody>
      </p:sp>
      <p:sp>
        <p:nvSpPr>
          <p:cNvPr id="4" name="Footer Placeholder 3">
            <a:extLst>
              <a:ext uri="{FF2B5EF4-FFF2-40B4-BE49-F238E27FC236}">
                <a16:creationId xmlns:a16="http://schemas.microsoft.com/office/drawing/2014/main" id="{6697BB4A-C2FA-48DD-9F31-664DF2C9F7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540AB79-C081-43E8-B49C-BA9D38FCF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5F1E10-4074-4DC3-8E35-9146BD1FD828}" type="slidenum">
              <a:rPr lang="en-US" smtClean="0"/>
              <a:t>‹#›</a:t>
            </a:fld>
            <a:endParaRPr lang="en-US" dirty="0"/>
          </a:p>
        </p:txBody>
      </p:sp>
    </p:spTree>
    <p:extLst>
      <p:ext uri="{BB962C8B-B14F-4D97-AF65-F5344CB8AC3E}">
        <p14:creationId xmlns:p14="http://schemas.microsoft.com/office/powerpoint/2010/main" val="2988812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0BC4BE-0D73-E240-8B38-104FAC465A91}" type="datetimeFigureOut">
              <a:rPr lang="en-US" smtClean="0"/>
              <a:t>4/5/2026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8C15C5-0688-5345-99FC-721E08AD15D5}" type="slidenum">
              <a:rPr lang="en-US" smtClean="0"/>
              <a:t>‹#›</a:t>
            </a:fld>
            <a:endParaRPr lang="en-US" dirty="0"/>
          </a:p>
        </p:txBody>
      </p:sp>
    </p:spTree>
    <p:extLst>
      <p:ext uri="{BB962C8B-B14F-4D97-AF65-F5344CB8AC3E}">
        <p14:creationId xmlns:p14="http://schemas.microsoft.com/office/powerpoint/2010/main" val="427685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8C15C5-0688-5345-99FC-721E08AD15D5}" type="slidenum">
              <a:rPr lang="en-US" smtClean="0"/>
              <a:t>1</a:t>
            </a:fld>
            <a:endParaRPr lang="en-US" dirty="0"/>
          </a:p>
        </p:txBody>
      </p:sp>
    </p:spTree>
    <p:extLst>
      <p:ext uri="{BB962C8B-B14F-4D97-AF65-F5344CB8AC3E}">
        <p14:creationId xmlns:p14="http://schemas.microsoft.com/office/powerpoint/2010/main" val="312103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8C15C5-0688-5345-99FC-721E08AD15D5}" type="slidenum">
              <a:rPr lang="en-US" smtClean="0"/>
              <a:t>2</a:t>
            </a:fld>
            <a:endParaRPr lang="en-US" dirty="0"/>
          </a:p>
        </p:txBody>
      </p:sp>
    </p:spTree>
    <p:extLst>
      <p:ext uri="{BB962C8B-B14F-4D97-AF65-F5344CB8AC3E}">
        <p14:creationId xmlns:p14="http://schemas.microsoft.com/office/powerpoint/2010/main" val="1297207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8C15C5-0688-5345-99FC-721E08AD15D5}" type="slidenum">
              <a:rPr lang="en-US" smtClean="0"/>
              <a:t>3</a:t>
            </a:fld>
            <a:endParaRPr lang="en-US" dirty="0"/>
          </a:p>
        </p:txBody>
      </p:sp>
    </p:spTree>
    <p:extLst>
      <p:ext uri="{BB962C8B-B14F-4D97-AF65-F5344CB8AC3E}">
        <p14:creationId xmlns:p14="http://schemas.microsoft.com/office/powerpoint/2010/main" val="3047512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8C15C5-0688-5345-99FC-721E08AD15D5}" type="slidenum">
              <a:rPr lang="en-US" smtClean="0"/>
              <a:t>4</a:t>
            </a:fld>
            <a:endParaRPr lang="en-US" dirty="0"/>
          </a:p>
        </p:txBody>
      </p:sp>
    </p:spTree>
    <p:extLst>
      <p:ext uri="{BB962C8B-B14F-4D97-AF65-F5344CB8AC3E}">
        <p14:creationId xmlns:p14="http://schemas.microsoft.com/office/powerpoint/2010/main" val="620627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8C15C5-0688-5345-99FC-721E08AD15D5}" type="slidenum">
              <a:rPr lang="en-US" smtClean="0"/>
              <a:t>5</a:t>
            </a:fld>
            <a:endParaRPr lang="en-US" dirty="0"/>
          </a:p>
        </p:txBody>
      </p:sp>
    </p:spTree>
    <p:extLst>
      <p:ext uri="{BB962C8B-B14F-4D97-AF65-F5344CB8AC3E}">
        <p14:creationId xmlns:p14="http://schemas.microsoft.com/office/powerpoint/2010/main" val="2777307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8801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5650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87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3965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9688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2663892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197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1870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smtClean="0"/>
              <a:pPr/>
              <a:t>4/5/2026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9381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3002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4520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4007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384169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5835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solidFill>
                  <a:schemeClr val="tx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1363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8175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567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smtClean="0"/>
              <a:pPr/>
              <a:t>4/5/2026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49767075"/>
      </p:ext>
    </p:extLst>
  </p:cSld>
  <p:clrMap bg1="dk1" tx1="lt1" bg2="dk2" tx2="lt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Lst>
  <p:txStyles>
    <p:titleStyle>
      <a:lvl1pPr algn="l" defTabSz="457200" rtl="0" eaLnBrk="1" latinLnBrk="0" hangingPunct="1">
        <a:spcBef>
          <a:spcPct val="0"/>
        </a:spcBef>
        <a:buNone/>
        <a:defRPr sz="3200" kern="1200" cap="all">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6731D7-5240-4C6B-D00E-7286A9A5E453}"/>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814101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7C6A3F5-C07C-22D2-2FEB-9E14B577C07F}"/>
              </a:ext>
            </a:extLst>
          </p:cNvPr>
          <p:cNvSpPr>
            <a:spLocks noGrp="1"/>
          </p:cNvSpPr>
          <p:nvPr>
            <p:ph type="ctrTitle"/>
          </p:nvPr>
        </p:nvSpPr>
        <p:spPr>
          <a:xfrm>
            <a:off x="74644" y="214601"/>
            <a:ext cx="4926562" cy="838201"/>
          </a:xfrm>
        </p:spPr>
        <p:txBody>
          <a:bodyPr/>
          <a:lstStyle/>
          <a:p>
            <a:r>
              <a:rPr lang="en-US" dirty="0"/>
              <a:t>Introduction:</a:t>
            </a:r>
            <a:endParaRPr lang="en-IN" dirty="0"/>
          </a:p>
        </p:txBody>
      </p:sp>
      <p:sp>
        <p:nvSpPr>
          <p:cNvPr id="25" name="Subtitle 24">
            <a:extLst>
              <a:ext uri="{FF2B5EF4-FFF2-40B4-BE49-F238E27FC236}">
                <a16:creationId xmlns:a16="http://schemas.microsoft.com/office/drawing/2014/main" id="{7532A0E5-1637-DCFA-654E-F5AB573B6931}"/>
              </a:ext>
            </a:extLst>
          </p:cNvPr>
          <p:cNvSpPr>
            <a:spLocks noGrp="1"/>
          </p:cNvSpPr>
          <p:nvPr>
            <p:ph type="subTitle" idx="1"/>
          </p:nvPr>
        </p:nvSpPr>
        <p:spPr>
          <a:xfrm>
            <a:off x="793102" y="1052802"/>
            <a:ext cx="11056776" cy="5320006"/>
          </a:xfrm>
        </p:spPr>
        <p:txBody>
          <a:bodyPr>
            <a:normAutofit lnSpcReduction="10000"/>
          </a:bodyPr>
          <a:lstStyle/>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The rapid increase in plastic waste has become a major environmental concern across the world. Improper waste segregation leads to pollution, inefficient recycling, and increased landfill usage. Traditional manual sorting methods are time-consuming, labor-intensive, and often inaccurate.</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To address these challenges, the </a:t>
            </a:r>
            <a:r>
              <a:rPr lang="en-US" b="1" dirty="0">
                <a:latin typeface="Arial" panose="020B0604020202020204" pitchFamily="34" charset="0"/>
                <a:cs typeface="Arial" panose="020B0604020202020204" pitchFamily="34" charset="0"/>
              </a:rPr>
              <a:t>Vision-Based Automated Plastic Waste Sorting System</a:t>
            </a:r>
            <a:r>
              <a:rPr lang="en-US" dirty="0">
                <a:latin typeface="Arial" panose="020B0604020202020204" pitchFamily="34" charset="0"/>
                <a:cs typeface="Arial" panose="020B0604020202020204" pitchFamily="34" charset="0"/>
              </a:rPr>
              <a:t> is developed as an intelligent and efficient solution. This system uses a camera and image processing techniques to identify different types of plastic waste, such as LDPE, MLP, and single-use plastics.</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The system is powered by artificial intelligence (AI) and a microcontroller, which work together to analyze the captured images and classify the waste in real time. Based on the classification, the system automatically directs the waste into the appropriate category using servo motors or mechanical sorting mechanisms.</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This project aims to improve waste management by reducing human effort, increasing sorting accuracy, and promoting recycling efficiency. It also contributes to environmental sustainability by enabling smarter and cleaner waste handling practices.</a:t>
            </a:r>
          </a:p>
          <a:p>
            <a:pPr marL="342900" indent="-342900" algn="l">
              <a:buFont typeface="Arial" panose="020B0604020202020204" pitchFamily="34" charset="0"/>
              <a:buChar char="•"/>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140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07A54D0-DE88-EEE2-23D1-F5549B2BC7C1}"/>
              </a:ext>
            </a:extLst>
          </p:cNvPr>
          <p:cNvSpPr>
            <a:spLocks noGrp="1"/>
          </p:cNvSpPr>
          <p:nvPr>
            <p:ph type="ctrTitle"/>
          </p:nvPr>
        </p:nvSpPr>
        <p:spPr>
          <a:xfrm>
            <a:off x="223934" y="270587"/>
            <a:ext cx="3592286" cy="917511"/>
          </a:xfrm>
        </p:spPr>
        <p:txBody>
          <a:bodyPr>
            <a:normAutofit fontScale="90000"/>
          </a:bodyPr>
          <a:lstStyle/>
          <a:p>
            <a:r>
              <a:rPr lang="en-IN" dirty="0"/>
              <a:t>OBJECTIVES:</a:t>
            </a:r>
          </a:p>
        </p:txBody>
      </p:sp>
      <p:sp>
        <p:nvSpPr>
          <p:cNvPr id="12" name="Subtitle 11">
            <a:extLst>
              <a:ext uri="{FF2B5EF4-FFF2-40B4-BE49-F238E27FC236}">
                <a16:creationId xmlns:a16="http://schemas.microsoft.com/office/drawing/2014/main" id="{2CB99551-05BB-E910-42AD-E39DA1A4EB57}"/>
              </a:ext>
            </a:extLst>
          </p:cNvPr>
          <p:cNvSpPr>
            <a:spLocks noGrp="1"/>
          </p:cNvSpPr>
          <p:nvPr>
            <p:ph type="subTitle" idx="1"/>
          </p:nvPr>
        </p:nvSpPr>
        <p:spPr>
          <a:xfrm>
            <a:off x="223933" y="1188097"/>
            <a:ext cx="11744133" cy="5399315"/>
          </a:xfrm>
        </p:spPr>
        <p:txBody>
          <a:bodyPr>
            <a:normAutofit/>
          </a:bodyPr>
          <a:lstStyle/>
          <a:p>
            <a:r>
              <a:rPr lang="en-US" dirty="0">
                <a:latin typeface="Arial" panose="020B0604020202020204" pitchFamily="34" charset="0"/>
                <a:cs typeface="Arial" panose="020B0604020202020204" pitchFamily="34" charset="0"/>
              </a:rPr>
              <a:t>The main objectives of the </a:t>
            </a:r>
            <a:r>
              <a:rPr lang="en-US" b="1" dirty="0">
                <a:latin typeface="Arial" panose="020B0604020202020204" pitchFamily="34" charset="0"/>
                <a:cs typeface="Arial" panose="020B0604020202020204" pitchFamily="34" charset="0"/>
              </a:rPr>
              <a:t>Vision-Based Automated Plastic Waste Sorting System</a:t>
            </a:r>
            <a:r>
              <a:rPr lang="en-US" dirty="0">
                <a:latin typeface="Arial" panose="020B0604020202020204" pitchFamily="34" charset="0"/>
                <a:cs typeface="Arial" panose="020B0604020202020204" pitchFamily="34" charset="0"/>
              </a:rPr>
              <a:t> are:</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To design and develop an automated system for sorting plastic waste using vision-based technology. </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To identify and classify different types of plastic materials such as LDPE, MLP, and single-use plastics. </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To reduce manual effort and improve the efficiency of waste segregation. </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To increase sorting accuracy using image processing and artificial intelligence techniques. </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To implement real-time detection and automatic sorting using a microcontroller and servo motors. </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To promote effective recycling by separating waste into appropriate categories. </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To develop a cost-effective and scalable solution suitable for smart waste management systems.</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4933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4E929F-CB4D-9B6A-EB2D-74ECC152A1E6}"/>
              </a:ext>
            </a:extLst>
          </p:cNvPr>
          <p:cNvSpPr>
            <a:spLocks noGrp="1"/>
          </p:cNvSpPr>
          <p:nvPr>
            <p:ph type="title"/>
          </p:nvPr>
        </p:nvSpPr>
        <p:spPr>
          <a:xfrm>
            <a:off x="264336" y="-108857"/>
            <a:ext cx="9905998" cy="1905000"/>
          </a:xfrm>
        </p:spPr>
        <p:txBody>
          <a:bodyPr/>
          <a:lstStyle/>
          <a:p>
            <a:r>
              <a:rPr lang="en-IN" dirty="0"/>
              <a:t>COMPONENTS USED:</a:t>
            </a:r>
          </a:p>
        </p:txBody>
      </p:sp>
      <p:sp>
        <p:nvSpPr>
          <p:cNvPr id="15" name="Rectangle 1">
            <a:extLst>
              <a:ext uri="{FF2B5EF4-FFF2-40B4-BE49-F238E27FC236}">
                <a16:creationId xmlns:a16="http://schemas.microsoft.com/office/drawing/2014/main" id="{6B1F91BA-ECF7-6138-3CB6-BC93F5D4EEC2}"/>
              </a:ext>
            </a:extLst>
          </p:cNvPr>
          <p:cNvSpPr>
            <a:spLocks noGrp="1" noChangeArrowheads="1"/>
          </p:cNvSpPr>
          <p:nvPr>
            <p:ph sz="half" idx="1"/>
          </p:nvPr>
        </p:nvSpPr>
        <p:spPr bwMode="auto">
          <a:prstGeom prst="rect">
            <a:avLst/>
          </a:prstGeom>
          <a:solidFill>
            <a:schemeClr val="bg1"/>
          </a:solidFill>
          <a:ln>
            <a:solidFill>
              <a:srgbClr val="C00000"/>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Web Camera</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Used to capture real-time images of plastic waste for detection and classification.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none" dirty="0">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Arduino (Microcontroller)</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Acts as the main controller to process signals and control the sorting mechanism.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none" dirty="0">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Servo Motors (2 Units)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Used to direct and sort the detected plastic waste into different categories. </a:t>
            </a:r>
          </a:p>
        </p:txBody>
      </p:sp>
      <p:sp>
        <p:nvSpPr>
          <p:cNvPr id="16" name="Rectangle 2">
            <a:extLst>
              <a:ext uri="{FF2B5EF4-FFF2-40B4-BE49-F238E27FC236}">
                <a16:creationId xmlns:a16="http://schemas.microsoft.com/office/drawing/2014/main" id="{69A3F636-1FA4-65A1-9C91-2FD7BE44B40A}"/>
              </a:ext>
            </a:extLst>
          </p:cNvPr>
          <p:cNvSpPr>
            <a:spLocks noGrp="1" noChangeArrowheads="1"/>
          </p:cNvSpPr>
          <p:nvPr>
            <p:ph sz="half" idx="2"/>
          </p:nvPr>
        </p:nvSpPr>
        <p:spPr bwMode="auto">
          <a:prstGeom prst="rect">
            <a:avLst/>
          </a:prstGeom>
          <a:solidFill>
            <a:schemeClr val="bg1">
              <a:lumMod val="65000"/>
              <a:lumOff val="35000"/>
            </a:schemeClr>
          </a:solidFill>
          <a:ln w="9525">
            <a:solidFill>
              <a:srgbClr val="C00000"/>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Website (User Interface)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Provides a platform to display detection results and system status.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OpenCV</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Used for image processing and capturing frames from the camera.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YOLO (You Only Look Once)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 deep learning algorithm used for real-time object detection and classification. </a:t>
            </a:r>
          </a:p>
        </p:txBody>
      </p:sp>
      <p:sp>
        <p:nvSpPr>
          <p:cNvPr id="11" name="Text Placeholder 10">
            <a:extLst>
              <a:ext uri="{FF2B5EF4-FFF2-40B4-BE49-F238E27FC236}">
                <a16:creationId xmlns:a16="http://schemas.microsoft.com/office/drawing/2014/main" id="{61F2561C-D866-705C-0B36-EF1741D7D9BB}"/>
              </a:ext>
            </a:extLst>
          </p:cNvPr>
          <p:cNvSpPr>
            <a:spLocks noGrp="1"/>
          </p:cNvSpPr>
          <p:nvPr>
            <p:ph type="body" idx="4294967295"/>
          </p:nvPr>
        </p:nvSpPr>
        <p:spPr>
          <a:xfrm>
            <a:off x="149290" y="1367176"/>
            <a:ext cx="4805363" cy="576263"/>
          </a:xfrm>
          <a:solidFill>
            <a:schemeClr val="bg1"/>
          </a:solidFill>
        </p:spPr>
        <p:txBody>
          <a:bodyPr/>
          <a:lstStyle/>
          <a:p>
            <a:r>
              <a:rPr lang="en-IN" dirty="0"/>
              <a:t>🔧 Hardware Components:</a:t>
            </a:r>
          </a:p>
        </p:txBody>
      </p:sp>
      <p:sp>
        <p:nvSpPr>
          <p:cNvPr id="13" name="Text Placeholder 12">
            <a:extLst>
              <a:ext uri="{FF2B5EF4-FFF2-40B4-BE49-F238E27FC236}">
                <a16:creationId xmlns:a16="http://schemas.microsoft.com/office/drawing/2014/main" id="{F50FE5D7-3AD9-D764-FA51-26F14EDC034F}"/>
              </a:ext>
            </a:extLst>
          </p:cNvPr>
          <p:cNvSpPr>
            <a:spLocks noGrp="1"/>
          </p:cNvSpPr>
          <p:nvPr>
            <p:ph type="body" sz="quarter" idx="4294967295"/>
          </p:nvPr>
        </p:nvSpPr>
        <p:spPr>
          <a:xfrm>
            <a:off x="7323914" y="1367176"/>
            <a:ext cx="4603750" cy="576263"/>
          </a:xfrm>
          <a:solidFill>
            <a:schemeClr val="bg1">
              <a:lumMod val="65000"/>
              <a:lumOff val="35000"/>
            </a:schemeClr>
          </a:solidFill>
        </p:spPr>
        <p:txBody>
          <a:bodyPr/>
          <a:lstStyle/>
          <a:p>
            <a:r>
              <a:rPr lang="en-IN" dirty="0"/>
              <a:t>💻 Software Components:</a:t>
            </a:r>
          </a:p>
        </p:txBody>
      </p:sp>
    </p:spTree>
    <p:extLst>
      <p:ext uri="{BB962C8B-B14F-4D97-AF65-F5344CB8AC3E}">
        <p14:creationId xmlns:p14="http://schemas.microsoft.com/office/powerpoint/2010/main" val="2706815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319B20-4A69-C162-B4F3-B4AEFD1288D8}"/>
              </a:ext>
            </a:extLst>
          </p:cNvPr>
          <p:cNvSpPr>
            <a:spLocks noGrp="1"/>
          </p:cNvSpPr>
          <p:nvPr>
            <p:ph type="ctrTitle"/>
          </p:nvPr>
        </p:nvSpPr>
        <p:spPr>
          <a:xfrm>
            <a:off x="0" y="214602"/>
            <a:ext cx="5943600" cy="838201"/>
          </a:xfrm>
        </p:spPr>
        <p:txBody>
          <a:bodyPr>
            <a:normAutofit fontScale="90000"/>
          </a:bodyPr>
          <a:lstStyle/>
          <a:p>
            <a:r>
              <a:rPr lang="en-IN" dirty="0"/>
              <a:t>WORKING PRINCIPLE:</a:t>
            </a:r>
          </a:p>
        </p:txBody>
      </p:sp>
      <p:sp>
        <p:nvSpPr>
          <p:cNvPr id="7" name="Subtitle 6">
            <a:extLst>
              <a:ext uri="{FF2B5EF4-FFF2-40B4-BE49-F238E27FC236}">
                <a16:creationId xmlns:a16="http://schemas.microsoft.com/office/drawing/2014/main" id="{3DF8A193-4CF1-AA6B-F4CE-7A5B46991B6B}"/>
              </a:ext>
            </a:extLst>
          </p:cNvPr>
          <p:cNvSpPr>
            <a:spLocks noGrp="1"/>
          </p:cNvSpPr>
          <p:nvPr>
            <p:ph type="subTitle" idx="1"/>
          </p:nvPr>
        </p:nvSpPr>
        <p:spPr>
          <a:xfrm>
            <a:off x="195943" y="1052803"/>
            <a:ext cx="11905861" cy="4738397"/>
          </a:xfrm>
        </p:spPr>
        <p:txBody>
          <a:bodyPr>
            <a:normAutofit fontScale="92500" lnSpcReduction="20000"/>
          </a:bodyPr>
          <a:lstStyle/>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Vision-Based Automated Plastic Waste Sorting System</a:t>
            </a:r>
            <a:r>
              <a:rPr lang="en-US" dirty="0">
                <a:latin typeface="Arial" panose="020B0604020202020204" pitchFamily="34" charset="0"/>
                <a:cs typeface="Arial" panose="020B0604020202020204" pitchFamily="34" charset="0"/>
              </a:rPr>
              <a:t> operates by combining image processing, artificial intelligence, and hardware control to automatically detect and sort plastic waste.</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Initially, a </a:t>
            </a:r>
            <a:r>
              <a:rPr lang="en-US" b="1" dirty="0">
                <a:latin typeface="Arial" panose="020B0604020202020204" pitchFamily="34" charset="0"/>
                <a:cs typeface="Arial" panose="020B0604020202020204" pitchFamily="34" charset="0"/>
              </a:rPr>
              <a:t>web camera</a:t>
            </a:r>
            <a:r>
              <a:rPr lang="en-US" dirty="0">
                <a:latin typeface="Arial" panose="020B0604020202020204" pitchFamily="34" charset="0"/>
                <a:cs typeface="Arial" panose="020B0604020202020204" pitchFamily="34" charset="0"/>
              </a:rPr>
              <a:t> continuously captures images of the objects placed on the conveyor or sorting area. These images are processed using </a:t>
            </a:r>
            <a:r>
              <a:rPr lang="en-US" b="1" dirty="0">
                <a:latin typeface="Arial" panose="020B0604020202020204" pitchFamily="34" charset="0"/>
                <a:cs typeface="Arial" panose="020B0604020202020204" pitchFamily="34" charset="0"/>
              </a:rPr>
              <a:t>OpenCV</a:t>
            </a:r>
            <a:r>
              <a:rPr lang="en-US" dirty="0">
                <a:latin typeface="Arial" panose="020B0604020202020204" pitchFamily="34" charset="0"/>
                <a:cs typeface="Arial" panose="020B0604020202020204" pitchFamily="34" charset="0"/>
              </a:rPr>
              <a:t>, which prepares the frames for analysis.</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The processed images are then passed to the </a:t>
            </a:r>
            <a:r>
              <a:rPr lang="en-US" b="1" dirty="0">
                <a:latin typeface="Arial" panose="020B0604020202020204" pitchFamily="34" charset="0"/>
                <a:cs typeface="Arial" panose="020B0604020202020204" pitchFamily="34" charset="0"/>
              </a:rPr>
              <a:t>YOLO (You Only Look Once)</a:t>
            </a:r>
            <a:r>
              <a:rPr lang="en-US" dirty="0">
                <a:latin typeface="Arial" panose="020B0604020202020204" pitchFamily="34" charset="0"/>
                <a:cs typeface="Arial" panose="020B0604020202020204" pitchFamily="34" charset="0"/>
              </a:rPr>
              <a:t> algorithm, which detects and classifies the type of plastic waste (such as LDPE, MLP, or single-use plastics) in real time.</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Once the object is identified, the classification result is sent to the </a:t>
            </a:r>
            <a:r>
              <a:rPr lang="en-US" b="1" dirty="0">
                <a:latin typeface="Arial" panose="020B0604020202020204" pitchFamily="34" charset="0"/>
                <a:cs typeface="Arial" panose="020B0604020202020204" pitchFamily="34" charset="0"/>
              </a:rPr>
              <a:t>Arduino microcontroller</a:t>
            </a:r>
            <a:r>
              <a:rPr lang="en-US" dirty="0">
                <a:latin typeface="Arial" panose="020B0604020202020204" pitchFamily="34" charset="0"/>
                <a:cs typeface="Arial" panose="020B0604020202020204" pitchFamily="34" charset="0"/>
              </a:rPr>
              <a:t>. Based on the detected category, the Arduino controls the </a:t>
            </a:r>
            <a:r>
              <a:rPr lang="en-US" b="1" dirty="0">
                <a:latin typeface="Arial" panose="020B0604020202020204" pitchFamily="34" charset="0"/>
                <a:cs typeface="Arial" panose="020B0604020202020204" pitchFamily="34" charset="0"/>
              </a:rPr>
              <a:t>servo motors</a:t>
            </a:r>
            <a:r>
              <a:rPr lang="en-US" dirty="0">
                <a:latin typeface="Arial" panose="020B0604020202020204" pitchFamily="34" charset="0"/>
                <a:cs typeface="Arial" panose="020B0604020202020204" pitchFamily="34" charset="0"/>
              </a:rPr>
              <a:t> to move in specific directions.</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The servo motors guide the waste into the correct bin or section, ensuring proper segregation. This entire process happens automatically and quickly, without human intervention.</a:t>
            </a:r>
          </a:p>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Thus, the system achieves efficient, accurate, and real-time plastic waste sorting using vision-based technology.</a:t>
            </a:r>
          </a:p>
          <a:p>
            <a:pPr marL="342900" indent="-342900" algn="l">
              <a:buFont typeface="Arial" panose="020B0604020202020204" pitchFamily="34" charset="0"/>
              <a:buChar char="•"/>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8061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262D6-BD8B-EB40-5730-7C6A1E4B2C3E}"/>
              </a:ext>
            </a:extLst>
          </p:cNvPr>
          <p:cNvSpPr>
            <a:spLocks noGrp="1"/>
          </p:cNvSpPr>
          <p:nvPr>
            <p:ph type="title"/>
          </p:nvPr>
        </p:nvSpPr>
        <p:spPr>
          <a:xfrm>
            <a:off x="199021" y="357675"/>
            <a:ext cx="3141338" cy="855306"/>
          </a:xfrm>
        </p:spPr>
        <p:txBody>
          <a:bodyPr/>
          <a:lstStyle/>
          <a:p>
            <a:r>
              <a:rPr lang="en-IN" dirty="0"/>
              <a:t>ADVANTAGES:</a:t>
            </a:r>
          </a:p>
        </p:txBody>
      </p:sp>
      <p:sp>
        <p:nvSpPr>
          <p:cNvPr id="4" name="Rectangle 1">
            <a:extLst>
              <a:ext uri="{FF2B5EF4-FFF2-40B4-BE49-F238E27FC236}">
                <a16:creationId xmlns:a16="http://schemas.microsoft.com/office/drawing/2014/main" id="{B7A1826C-6AAA-E522-FC5A-53833FBCC1F4}"/>
              </a:ext>
            </a:extLst>
          </p:cNvPr>
          <p:cNvSpPr>
            <a:spLocks noGrp="1" noChangeArrowheads="1"/>
          </p:cNvSpPr>
          <p:nvPr>
            <p:ph idx="1"/>
          </p:nvPr>
        </p:nvSpPr>
        <p:spPr bwMode="auto">
          <a:xfrm>
            <a:off x="880156" y="1973926"/>
            <a:ext cx="973808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Automatic Waste Sorting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Fully automated system reduces human effort and manual work.</a:t>
            </a:r>
          </a:p>
          <a:p>
            <a:pPr marL="0" marR="0" lvl="0" indent="0" algn="ctr"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 Accuracy using AI</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YOLO-based detection ensures precise classification of plastic waste.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Fast &amp; Real-Time Processing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Quickly detects and sorts waste, saving time. </a:t>
            </a:r>
          </a:p>
        </p:txBody>
      </p:sp>
    </p:spTree>
    <p:extLst>
      <p:ext uri="{BB962C8B-B14F-4D97-AF65-F5344CB8AC3E}">
        <p14:creationId xmlns:p14="http://schemas.microsoft.com/office/powerpoint/2010/main" val="3925594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B22A-5C41-38B1-8884-C19583E422E8}"/>
              </a:ext>
            </a:extLst>
          </p:cNvPr>
          <p:cNvSpPr>
            <a:spLocks noGrp="1"/>
          </p:cNvSpPr>
          <p:nvPr>
            <p:ph type="title"/>
          </p:nvPr>
        </p:nvSpPr>
        <p:spPr>
          <a:xfrm>
            <a:off x="348311" y="541175"/>
            <a:ext cx="3132007" cy="1051249"/>
          </a:xfrm>
        </p:spPr>
        <p:txBody>
          <a:bodyPr/>
          <a:lstStyle/>
          <a:p>
            <a:r>
              <a:rPr lang="en-IN" dirty="0"/>
              <a:t>CONCLUSION:</a:t>
            </a:r>
          </a:p>
        </p:txBody>
      </p:sp>
      <p:sp>
        <p:nvSpPr>
          <p:cNvPr id="3" name="Content Placeholder 2">
            <a:extLst>
              <a:ext uri="{FF2B5EF4-FFF2-40B4-BE49-F238E27FC236}">
                <a16:creationId xmlns:a16="http://schemas.microsoft.com/office/drawing/2014/main" id="{821429B9-3464-B2F6-160C-EBCE2E2F9B5D}"/>
              </a:ext>
            </a:extLst>
          </p:cNvPr>
          <p:cNvSpPr>
            <a:spLocks noGrp="1"/>
          </p:cNvSpPr>
          <p:nvPr>
            <p:ph idx="1"/>
          </p:nvPr>
        </p:nvSpPr>
        <p:spPr>
          <a:xfrm>
            <a:off x="783772" y="1592424"/>
            <a:ext cx="11187404" cy="4911013"/>
          </a:xfrm>
        </p:spPr>
        <p:txBody>
          <a:bodyPr>
            <a:normAutofit/>
          </a:bodyPr>
          <a:lstStyle/>
          <a:p>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Vision-Based Automated Plastic Waste Sorting System</a:t>
            </a:r>
            <a:r>
              <a:rPr lang="en-US" dirty="0">
                <a:latin typeface="Arial" panose="020B0604020202020204" pitchFamily="34" charset="0"/>
                <a:cs typeface="Arial" panose="020B0604020202020204" pitchFamily="34" charset="0"/>
              </a:rPr>
              <a:t> was successfully developed to improve waste segregation using AI and automation. The system accurately detects and classifies plastic waste using the YOLO algorithm and automatically sorts it using servo motors.</a:t>
            </a:r>
          </a:p>
          <a:p>
            <a:r>
              <a:rPr lang="en-US" dirty="0">
                <a:latin typeface="Arial" panose="020B0604020202020204" pitchFamily="34" charset="0"/>
                <a:cs typeface="Arial" panose="020B0604020202020204" pitchFamily="34" charset="0"/>
              </a:rPr>
              <a:t>This project reduces manual effort, increases efficiency, and promotes effective recycling. It demonstrates how modern technologies like computer vision and embedded systems can be used to solve real-world environmental problems.</a:t>
            </a:r>
          </a:p>
          <a:p>
            <a:r>
              <a:rPr lang="en-US" dirty="0">
                <a:latin typeface="Arial" panose="020B0604020202020204" pitchFamily="34" charset="0"/>
                <a:cs typeface="Arial" panose="020B0604020202020204" pitchFamily="34" charset="0"/>
              </a:rPr>
              <a:t>Overall, the system is reliable, cost-effective, and has strong potential for future development in smart waste management.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5875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F2537B83-0823-74C8-4ABA-162AD524E1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18972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5AD0B8"/>
      </a:accent1>
      <a:accent2>
        <a:srgbClr val="47BB7E"/>
      </a:accent2>
      <a:accent3>
        <a:srgbClr val="96CD4B"/>
      </a:accent3>
      <a:accent4>
        <a:srgbClr val="61C7DD"/>
      </a:accent4>
      <a:accent5>
        <a:srgbClr val="2495CF"/>
      </a:accent5>
      <a:accent6>
        <a:srgbClr val="5A74D1"/>
      </a:accent6>
      <a:hlink>
        <a:srgbClr val="72CEBB"/>
      </a:hlink>
      <a:folHlink>
        <a:srgbClr val="98E6D6"/>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F017D31-E675-491F-B600-F06278E25DAD}">
  <ds:schemaRefs>
    <ds:schemaRef ds:uri="http://schemas.microsoft.com/sharepoint/v3/contenttype/forms"/>
  </ds:schemaRefs>
</ds:datastoreItem>
</file>

<file path=customXml/itemProps2.xml><?xml version="1.0" encoding="utf-8"?>
<ds:datastoreItem xmlns:ds="http://schemas.openxmlformats.org/officeDocument/2006/customXml" ds:itemID="{6A89A57F-CF3F-47C6-90BB-70331E72BC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11B8520-39D0-4E39-88E2-3CE8E9A6E44A}">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School design</Template>
  <TotalTime>132</TotalTime>
  <Words>752</Words>
  <Application>Microsoft Office PowerPoint</Application>
  <PresentationFormat>Widescreen</PresentationFormat>
  <Paragraphs>45</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Century Gothic</vt:lpstr>
      <vt:lpstr>Mesh</vt:lpstr>
      <vt:lpstr>PowerPoint Presentation</vt:lpstr>
      <vt:lpstr>Introduction:</vt:lpstr>
      <vt:lpstr>OBJECTIVES:</vt:lpstr>
      <vt:lpstr>COMPONENTS USED:</vt:lpstr>
      <vt:lpstr>WORKING PRINCIPLE:</vt:lpstr>
      <vt:lpstr>ADVANTAGES: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VISHWA M</dc:creator>
  <cp:lastModifiedBy>VISHWA M</cp:lastModifiedBy>
  <cp:revision>2</cp:revision>
  <dcterms:created xsi:type="dcterms:W3CDTF">2026-04-05T07:06:09Z</dcterms:created>
  <dcterms:modified xsi:type="dcterms:W3CDTF">2026-04-05T09:18:53Z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